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embeddedFontLst>
    <p:embeddedFont>
      <p:font typeface="Alber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8zwyFPb1WPVN5LhIFDLCf2nm9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49400-6CC4-485D-8666-748CD7DC5799}">
  <a:tblStyle styleId="{B4949400-6CC4-485D-8666-748CD7DC57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bertSans-bold.fntdata"/><Relationship Id="rId25" Type="http://schemas.openxmlformats.org/officeDocument/2006/relationships/font" Target="fonts/AlbertSans-regular.fntdata"/><Relationship Id="rId28" Type="http://schemas.openxmlformats.org/officeDocument/2006/relationships/font" Target="fonts/AlbertSans-boldItalic.fntdata"/><Relationship Id="rId27" Type="http://schemas.openxmlformats.org/officeDocument/2006/relationships/font" Target="fonts/Albert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D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Clinical</c:v>
                  </c:pt>
                  <c:pt idx="1">
                    <c:v>Image (ResNet)</c:v>
                  </c:pt>
                  <c:pt idx="2">
                    <c:v>Clinical+Image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0.833</c:v>
                </c:pt>
                <c:pt idx="1">
                  <c:v>0.57</c:v>
                </c:pt>
                <c:pt idx="2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To build our predictive baseline, we focused on clinical variables available at the time of diagnosis. Our goal was to eliminate 'future' information and redundant features to prevent model over-fitting</a:t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decided to approach the modelling in 3 phases. First we trained a set of models on JUST the </a:t>
            </a:r>
            <a:r>
              <a:rPr lang="en-US"/>
              <a:t>tabular</a:t>
            </a:r>
            <a:r>
              <a:rPr lang="en-US"/>
              <a:t> data. In phase 2 we took these same models and built a layer of predictability with the features we extracted from images. The third and final phase included a </a:t>
            </a:r>
            <a:r>
              <a:rPr lang="en-US"/>
              <a:t>multimodal neural network trained on both clinical and image features</a:t>
            </a:r>
            <a:endParaRPr/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While we tested various methods,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emerged as our top-performing baseline. It achieved the highest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AUC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of 0.852 </a:t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df59c6a5d_4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cdf59c6a5d_4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df59c6a5d_4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df59c6a5d_4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cdf59c6a5d_4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df59c6a5d_4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df59c6a5d_4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cdf59c6a5d_4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df59c6a5d_4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df59c6a5d_2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cdf59c6a5d_2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We’ve mapped out our primary risks, for example acknowledging that while workflow delays are likely, they are low severity. 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These risks can be addressed through future deliverables such as integrating an automation to pull biopsy images directly from the imaging database, removing the manual upload hurdle</a:t>
            </a:r>
            <a:endParaRPr/>
          </a:p>
        </p:txBody>
      </p:sp>
      <p:sp>
        <p:nvSpPr>
          <p:cNvPr id="240" name="Google Shape;240;g3cdf59c6a5d_2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df59c6a5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cdf59c6a5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To ensure our model translates into actual clinical impact, we’ve outlined a 6-month deployment plan that moves from technical validation in May to a pilot phase with oncologists by August</a:t>
            </a:r>
            <a:endParaRPr/>
          </a:p>
        </p:txBody>
      </p:sp>
      <p:sp>
        <p:nvSpPr>
          <p:cNvPr id="248" name="Google Shape;248;g3cdf59c6a5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df59c6a5d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cdf59c6a5d_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df59c6a5d_7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df59c6a5d_4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df59c6a5d_4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df59c6a5d_4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rQAsGwCxJOueNMjncJ_40iyVR-rsRNwJ/view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Predicting Breast Cancer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Response to Neoadjuvant Chemotherapy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Using Clinical Data &amp; Digital Pathology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3200400" y="347472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844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212325" y="3473552"/>
            <a:ext cx="76809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Team 6 :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Diana Dadkhah Tirani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Gurveer Madurai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Derrick Jaskiel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Victoria Farkas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Rachel Chiu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Nandini Krishnan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Background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1525" y="1188725"/>
            <a:ext cx="7035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Breast cancer is the most commonly diagnosed cancer in women globally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High-risk patients receive chemotherapy before surgery (neoadjuvant therapy) to shrink the tumor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outcome: pathological complete response (pCR) — no cancer remaining after treatment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Patients who achieve pCR have significantly better long-term survival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no reliable way to predict who will respond before treatment begins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891B2"/>
                </a:solidFill>
                <a:latin typeface="Georgia"/>
                <a:ea typeface="Georgia"/>
                <a:cs typeface="Georgia"/>
                <a:sym typeface="Georgia"/>
              </a:rPr>
              <a:t>The Question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solidFill>
            <a:srgbClr val="243656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914400" y="1371600"/>
            <a:ext cx="7315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Can we predict whether a breast cancer patient will achieve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pathological complete response (pCR) to chemotherapy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before treatment begins?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Using pre-treatment clinical data + digital pathology biopsy images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914400" y="4297680"/>
            <a:ext cx="347472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14400" y="42976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pCR predicted → Proceed with 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754880" y="4297680"/>
            <a:ext cx="34747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754880" y="42976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Non-pCR predicted → Switch treatment early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0" y="137150"/>
            <a:ext cx="906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Dataset: Data Understanding and Preprocessing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Health Data Nexus — High-Resolution Digital Pathology of Breast Cancer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1554480"/>
            <a:ext cx="18288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640" y="1554480"/>
            <a:ext cx="1828800" cy="54864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8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8A"/>
                </a:solidFill>
                <a:latin typeface="Georgia"/>
                <a:ea typeface="Georgia"/>
                <a:cs typeface="Georgia"/>
                <a:sym typeface="Georgia"/>
              </a:rPr>
              <a:t>157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651768" y="1600193"/>
            <a:ext cx="1828800" cy="128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651780" y="1554505"/>
            <a:ext cx="1828800" cy="54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51768" y="1772765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51780" y="2340945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8" y="1600193"/>
            <a:ext cx="1828800" cy="128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754888" y="1554505"/>
            <a:ext cx="1828800" cy="5490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754888" y="179229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4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E8443A"/>
                </a:solidFill>
                <a:latin typeface="Georgia"/>
                <a:ea typeface="Georgia"/>
                <a:cs typeface="Georgia"/>
                <a:sym typeface="Georgia"/>
              </a:rPr>
              <a:t>31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900" y="2340945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Clinical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31520" y="310896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Canadian institution, patients treated 2013-2018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patient: H&amp;E whole-slide biopsy image (~60,000 x 18,000 pixels) + clinical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Subtypes: Luminal A (40), Luminal B (39), TNBC (40), HER2+ (38)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Target: pCR (complete response) vs non-pCR (residual disease)</a:t>
            </a:r>
            <a:endParaRPr b="0" i="0" sz="14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extracted from images (will touch on this later)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02750" y="137150"/>
            <a:ext cx="8766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Exploratory Data Analysis</a:t>
            </a: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Response &amp; Subtypes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2436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Luminal A = 0% pCR  |  HER2+ = 79% pCR  —  Subtype is a powerful predictor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83075" y="966100"/>
            <a:ext cx="3110400" cy="321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ER% (0.49)</a:t>
            </a:r>
            <a:r>
              <a:rPr lang="en-US" sz="1100">
                <a:solidFill>
                  <a:schemeClr val="dk1"/>
                </a:solidFill>
              </a:rPr>
              <a:t> — strongest predictor. Higher estrogen receptor = more likely to have residual disease (non-pCR)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PR% (0.41)</a:t>
            </a:r>
            <a:r>
              <a:rPr lang="en-US" sz="1100">
                <a:solidFill>
                  <a:schemeClr val="dk1"/>
                </a:solidFill>
              </a:rPr>
              <a:t> — second strongest, same story as ER. Hormone receptor positive tumors resist chemo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Grade (-0.36)</a:t>
            </a:r>
            <a:r>
              <a:rPr lang="en-US" sz="1100">
                <a:solidFill>
                  <a:schemeClr val="dk1"/>
                </a:solidFill>
              </a:rPr>
              <a:t> — higher grade (more aggressive) tumors actually respond </a:t>
            </a:r>
            <a:r>
              <a:rPr i="1" lang="en-US" sz="1100">
                <a:solidFill>
                  <a:schemeClr val="dk1"/>
                </a:solidFill>
              </a:rPr>
              <a:t>better</a:t>
            </a:r>
            <a:r>
              <a:rPr lang="en-US" sz="1100">
                <a:solidFill>
                  <a:schemeClr val="dk1"/>
                </a:solidFill>
              </a:rPr>
              <a:t> to chemo.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HER2 (-0.26)</a:t>
            </a:r>
            <a:r>
              <a:rPr lang="en-US" sz="1100">
                <a:solidFill>
                  <a:schemeClr val="dk1"/>
                </a:solidFill>
              </a:rPr>
              <a:t> — HER2-positive patients respond better, largely because they also receive trastuzumab (targeted anti-HER2 therapy) alongside chemo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4" name="Google Shape;74;p5" title="Screenshot 2026-03-08 at 12.14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775" y="975360"/>
            <a:ext cx="4121011" cy="326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 Selection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Features Kept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ER% — strongest predictor (r=0.49)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PR% — second strongest (r=0.41)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HER2 status — strong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Nottingham Grade — higher = better 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Tumor size (mm) — clean, no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 status — moderate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 — let model 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Histology — IDC vs ILC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Image features (6 image features)*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754880" y="1097280"/>
            <a:ext cx="3931800" cy="347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754880" y="1097280"/>
            <a:ext cx="39318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754880" y="109728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Dropped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29200" y="1691640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ER/PR binary — redundant (kept continuous 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Subtype — derived from ER/PR/HER2 (leakage)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RCBI — this IS the outcome (cheating)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Surgery, adjuvant therapy — post-treatment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NAC regimen — treatment info, not predictive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LVI — messy, unreliable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Imaging metadata — not about the patient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Methodology: Three-Phase Approach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5720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40080" y="2011680"/>
            <a:ext cx="2194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clinical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Logistic Regression, RF,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Gradient Boosting, SVM, XGBOOST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5-fold 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338328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3383280" y="1188720"/>
            <a:ext cx="256032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3383280" y="1188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38328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base + Image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566160" y="2011680"/>
            <a:ext cx="2194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model as phase 1 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14 features in total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Image features are included 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6309360" y="1188720"/>
            <a:ext cx="256032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Multimodal Fusion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92215" y="2011680"/>
            <a:ext cx="2194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Clinical + Image features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Trained a custom Keras neural network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 features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017520" y="2560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943600" y="2560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603124" y="898488"/>
            <a:ext cx="3748200" cy="4572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Baseline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436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established: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AUC = 0.8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9" title="Screenshot 2026-03-08 at 11.18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75" y="1431226"/>
            <a:ext cx="3748300" cy="29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9" title="Screenshot 2026-03-08 at 11.19.50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000" y="1467800"/>
            <a:ext cx="3200401" cy="285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>
            <a:off x="839875" y="898250"/>
            <a:ext cx="290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Baseline (Phase 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111005" y="916765"/>
            <a:ext cx="3200400" cy="4572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203830" y="91676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+ IMG Baseline (Phase 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Image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 Extraction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274325" y="1188723"/>
            <a:ext cx="1554600" cy="12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274320" y="1188720"/>
            <a:ext cx="1554480" cy="54864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274320" y="1188725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5F8A"/>
                </a:solidFill>
                <a:latin typeface="Calibri"/>
                <a:ea typeface="Calibri"/>
                <a:cs typeface="Calibri"/>
                <a:sym typeface="Calibri"/>
              </a:rPr>
              <a:t>Whole Slide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5F8A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74195" y="1609358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40x magnification</a:t>
            </a:r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Tiling necessary for processing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828800" y="1828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2057400" y="1188723"/>
            <a:ext cx="1554600" cy="12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2057325" y="1188713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2057325" y="1609358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Tissue filtering</a:t>
            </a:r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200 patches/image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3611880" y="1828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840481" y="1188723"/>
            <a:ext cx="1554600" cy="12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3840405" y="1188713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3840405" y="1609358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Identify edges and nuclear clumps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394960" y="1828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623563" y="1188723"/>
            <a:ext cx="1554600" cy="12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5623560" y="1188720"/>
            <a:ext cx="1554480" cy="54864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623485" y="1188713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4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443A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623485" y="1609358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Average NumPy representations per patch for each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178040" y="1828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406644" y="1188723"/>
            <a:ext cx="1554600" cy="12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7406640" y="1188720"/>
            <a:ext cx="1554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7406565" y="1188713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Final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7406565" y="1609358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a single value per 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775" y="2469425"/>
            <a:ext cx="3881923" cy="24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f59c6a5d_4_1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df59c6a5d_4_17"/>
          <p:cNvSpPr/>
          <p:nvPr/>
        </p:nvSpPr>
        <p:spPr>
          <a:xfrm>
            <a:off x="548640" y="1371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Image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 Extraction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g3cdf59c6a5d_4_17"/>
          <p:cNvGraphicFramePr/>
          <p:nvPr/>
        </p:nvGraphicFramePr>
        <p:xfrm>
          <a:off x="147100" y="1086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{B4949400-6CC4-485D-8666-748CD7DC5799}</a:tableStyleId>
              </a:tblPr>
              <a:tblGrid>
                <a:gridCol w="2093025"/>
                <a:gridCol w="4076700"/>
                <a:gridCol w="2680075"/>
              </a:tblGrid>
              <a:tr h="43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41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Img_Nuclear_Density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intensity of the purple channel after Red-channel subtraction (Blue - Red); isolates haematoxylin-stained nuclei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Tumor Cellularity: 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density = tightly packed cancer cells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Img_Edge_Complexity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pixel density of the binary output from the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Canny Edge Detection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algorithm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Tissue Architectural Disorder: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complexity = disrupted architecture = invasive phenotype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Img_Clump_Count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count of distinct objects identified via the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OpenCV findContours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method on a thresholded nuclear map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Nuclear Clustering Behaviour: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clump morphology = tumor growth pattern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9" name="Google Shape;169;g3cdf59c6a5d_4_17"/>
          <p:cNvCxnSpPr/>
          <p:nvPr/>
        </p:nvCxnSpPr>
        <p:spPr>
          <a:xfrm rot="5400000">
            <a:off x="4941846" y="3749344"/>
            <a:ext cx="237000" cy="160800"/>
          </a:xfrm>
          <a:prstGeom prst="bentConnector3">
            <a:avLst>
              <a:gd fmla="val 100106" name="adj1"/>
            </a:avLst>
          </a:prstGeom>
          <a:noFill/>
          <a:ln cap="flat" cmpd="sng" w="87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0" name="Google Shape;170;g3cdf59c6a5d_4_17" title="Screenshot 2026-03-08 at 12.47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00" y="3487425"/>
            <a:ext cx="4292480" cy="1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cdf59c6a5d_4_17" title="Screenshot 2026-03-08 at 12.47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299" y="3487425"/>
            <a:ext cx="4292475" cy="1284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df59c6a5d_4_6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df59c6a5d_4_67"/>
          <p:cNvSpPr/>
          <p:nvPr/>
        </p:nvSpPr>
        <p:spPr>
          <a:xfrm>
            <a:off x="548640" y="1371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Keras MultiModal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cdf59c6a5d_4_67" title="Screenshot 2026-03-08 at 11.57.05 AM.png"/>
          <p:cNvPicPr preferRelativeResize="0"/>
          <p:nvPr/>
        </p:nvPicPr>
        <p:blipFill rotWithShape="1">
          <a:blip r:embed="rId3">
            <a:alphaModFix/>
          </a:blip>
          <a:srcRect b="0" l="5571" r="0" t="0"/>
          <a:stretch/>
        </p:blipFill>
        <p:spPr>
          <a:xfrm>
            <a:off x="1153538" y="1236425"/>
            <a:ext cx="7712174" cy="30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cdf59c6a5d_4_67" title="Screenshot 2026-03-08 at 11.57.27 AM.png"/>
          <p:cNvPicPr preferRelativeResize="0"/>
          <p:nvPr/>
        </p:nvPicPr>
        <p:blipFill rotWithShape="1">
          <a:blip r:embed="rId4">
            <a:alphaModFix/>
          </a:blip>
          <a:srcRect b="12975" l="0" r="0" t="0"/>
          <a:stretch/>
        </p:blipFill>
        <p:spPr>
          <a:xfrm>
            <a:off x="2105150" y="4120825"/>
            <a:ext cx="5113699" cy="3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cdf59c6a5d_4_67"/>
          <p:cNvSpPr txBox="1"/>
          <p:nvPr/>
        </p:nvSpPr>
        <p:spPr>
          <a:xfrm>
            <a:off x="183000" y="1812850"/>
            <a:ext cx="15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Clinical Features</a:t>
            </a:r>
            <a:endParaRPr b="1" sz="1000"/>
          </a:p>
        </p:txBody>
      </p:sp>
      <p:sp>
        <p:nvSpPr>
          <p:cNvPr id="182" name="Google Shape;182;g3cdf59c6a5d_4_67"/>
          <p:cNvSpPr txBox="1"/>
          <p:nvPr/>
        </p:nvSpPr>
        <p:spPr>
          <a:xfrm>
            <a:off x="183000" y="2917775"/>
            <a:ext cx="15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Image Features</a:t>
            </a:r>
            <a:endParaRPr b="1" sz="1000"/>
          </a:p>
        </p:txBody>
      </p:sp>
      <p:pic>
        <p:nvPicPr>
          <p:cNvPr id="183" name="Google Shape;183;g3cdf59c6a5d_4_67" title="Screenshot 2026-03-08 at 11.59.4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6250" y="1188025"/>
            <a:ext cx="2024201" cy="5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df59c6a5d_4_8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df59c6a5d_4_83"/>
          <p:cNvSpPr/>
          <p:nvPr/>
        </p:nvSpPr>
        <p:spPr>
          <a:xfrm>
            <a:off x="548640" y="1371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Keras MultiModal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g3cdf59c6a5d_4_83" title="feature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275" y="1295325"/>
            <a:ext cx="4132465" cy="329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cdf59c6a5d_4_83" title="ro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400" y="1316638"/>
            <a:ext cx="4415476" cy="329763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cdf59c6a5d_4_83"/>
          <p:cNvSpPr/>
          <p:nvPr/>
        </p:nvSpPr>
        <p:spPr>
          <a:xfrm>
            <a:off x="4773475" y="2248475"/>
            <a:ext cx="2641200" cy="20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df59c6a5d_4_83"/>
          <p:cNvSpPr/>
          <p:nvPr/>
        </p:nvSpPr>
        <p:spPr>
          <a:xfrm>
            <a:off x="4773475" y="2917825"/>
            <a:ext cx="2641200" cy="418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Results: Model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{B4949400-6CC4-485D-8666-748CD7DC5799}</a:tableStyleId>
              </a:tblPr>
              <a:tblGrid>
                <a:gridCol w="2250275"/>
                <a:gridCol w="1157300"/>
                <a:gridCol w="1157300"/>
                <a:gridCol w="1221575"/>
                <a:gridCol w="1221575"/>
                <a:gridCol w="12215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Baseline (LR)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75.1%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0.782</a:t>
                      </a:r>
                      <a:endParaRPr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0.773</a:t>
                      </a:r>
                      <a:endParaRPr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Baseline + IMG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59.9%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0.812</a:t>
                      </a:r>
                      <a:endParaRPr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+ Image (Keras Path)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300"/>
                        <a:buFont typeface="Calibri"/>
                        <a:buNone/>
                      </a:pPr>
                      <a:r>
                        <a:rPr i="1" lang="en-US" sz="130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1"/>
          <p:cNvGraphicFramePr/>
          <p:nvPr/>
        </p:nvGraphicFramePr>
        <p:xfrm>
          <a:off x="457200" y="3931920"/>
          <a:ext cx="8229600" cy="100584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Clinical Implications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Predicts pCR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731520" y="169164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Proceed with current chemo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 and doctor gain confidence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Better mental health outcomes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Optimize resource allocation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Predicts non-pCR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5029200" y="169164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Switch to a different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drug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Escalate treatment (add targeted therapy)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Consider skipping to surgery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Enroll in clinical trial 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777240" y="397764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Finding: Luminal A patients had 0% pCR rate — standard NAT may not be the right approach for this subtype. This alone could change clinical decision-making.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Limitations &amp;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731520" y="169164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institution (n=157)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small sample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patch sampling from WSIs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pathology-specific foundation model fully deployed (UNI access pending)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hyperparameter optimization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imbalance within subtypes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external validation cohort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5029200" y="169164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de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eper neural network such as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Full-slide tiling (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00+ patches per patient)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Multi-institutional validation cohort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Survival prediction beyond pCR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Explainability: attention heatmaps on tissue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df59c6a5d_2_34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cdf59c6a5d_2_34"/>
          <p:cNvSpPr/>
          <p:nvPr/>
        </p:nvSpPr>
        <p:spPr>
          <a:xfrm>
            <a:off x="548640" y="1371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Limitations &amp;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" name="Google Shape;244;g3cdf59c6a5d_2_34"/>
          <p:cNvGraphicFramePr/>
          <p:nvPr/>
        </p:nvGraphicFramePr>
        <p:xfrm>
          <a:off x="0" y="82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{B4949400-6CC4-485D-8666-748CD7DC5799}</a:tableStyleId>
              </a:tblPr>
              <a:tblGrid>
                <a:gridCol w="5276000"/>
                <a:gridCol w="1128025"/>
                <a:gridCol w="968150"/>
                <a:gridCol w="743550"/>
                <a:gridCol w="1028300"/>
              </a:tblGrid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Risk Description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Likelihood (1–3)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Severity (1–3)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Total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Rating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Workflow Delay: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Clinicians stopping to manually upload biopsy images.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MEDIUM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Overconfidence Bias: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Clinicians relying too heavily on the model's output over their own judgment.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LOW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Poor Model Tuning: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Inaccurate predictions leading to sub-optimal treatment paths.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MEDIUM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Data Drift: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Model performance degrading over time as clinical protocols change.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LOW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Algorithmic Bias: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Model performing less accurately on specific demographic subgroups.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HIGH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df59c6a5d_2_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df59c6a5d_2_0"/>
          <p:cNvSpPr/>
          <p:nvPr/>
        </p:nvSpPr>
        <p:spPr>
          <a:xfrm>
            <a:off x="548640" y="1371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Limitations &amp;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g3cdf59c6a5d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787" y="822900"/>
            <a:ext cx="6256439" cy="432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df59c6a5d_7_0"/>
          <p:cNvSpPr/>
          <p:nvPr/>
        </p:nvSpPr>
        <p:spPr>
          <a:xfrm>
            <a:off x="548640" y="3657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891B2"/>
                </a:solidFill>
                <a:latin typeface="Georgia"/>
                <a:ea typeface="Georgia"/>
                <a:cs typeface="Georgia"/>
                <a:sym typeface="Georgia"/>
              </a:rPr>
              <a:t>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3cdf59c6a5d_7_0" title="video351773103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8300" y="68250"/>
            <a:ext cx="6767000" cy="50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df59c6a5d_4_9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df59c6a5d_4_98"/>
          <p:cNvSpPr/>
          <p:nvPr/>
        </p:nvSpPr>
        <p:spPr>
          <a:xfrm>
            <a:off x="914390" y="35223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0891B2"/>
                </a:solidFill>
                <a:latin typeface="Georgia"/>
                <a:ea typeface="Georgia"/>
                <a:cs typeface="Georgia"/>
                <a:sym typeface="Georgia"/>
              </a:rPr>
              <a:t>Credits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cdf59c6a5d_4_98"/>
          <p:cNvCxnSpPr/>
          <p:nvPr/>
        </p:nvCxnSpPr>
        <p:spPr>
          <a:xfrm>
            <a:off x="914400" y="457200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3cdf59c6a5d_4_98"/>
          <p:cNvSpPr/>
          <p:nvPr/>
        </p:nvSpPr>
        <p:spPr>
          <a:xfrm>
            <a:off x="457200" y="46634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cdf59c6a5d_4_98" title="qr-co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475" y="106008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2026-03-08T17:54:53Z</dcterms:created>
  <dc:creator>Datathon Team</dc:creator>
</cp:coreProperties>
</file>